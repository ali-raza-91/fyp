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704" autoAdjust="0"/>
  </p:normalViewPr>
  <p:slideViewPr>
    <p:cSldViewPr snapToGrid="0">
      <p:cViewPr varScale="1">
        <p:scale>
          <a:sx n="119" d="100"/>
          <a:sy n="119" d="100"/>
        </p:scale>
        <p:origin x="-272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116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9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194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515600" cy="2862262"/>
          </a:xfr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31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aseline="0" noProof="0" dirty="0" smtClean="0">
                <a:solidFill>
                  <a:schemeClr val="bg1"/>
                </a:solidFill>
              </a:defRPr>
            </a:lvl1pPr>
            <a:lvl2pPr>
              <a:defRPr lang="en-US" baseline="0" noProof="0" dirty="0" smtClean="0">
                <a:solidFill>
                  <a:schemeClr val="bg1"/>
                </a:solidFill>
              </a:defRPr>
            </a:lvl2pPr>
            <a:lvl3pPr>
              <a:defRPr lang="en-US" baseline="0" noProof="0" dirty="0" smtClean="0">
                <a:solidFill>
                  <a:schemeClr val="bg1"/>
                </a:solidFill>
              </a:defRPr>
            </a:lvl3pPr>
            <a:lvl4pPr>
              <a:defRPr lang="en-US" baseline="0" noProof="0" dirty="0" smtClean="0">
                <a:solidFill>
                  <a:schemeClr val="bg1"/>
                </a:solidFill>
              </a:defRPr>
            </a:lvl4pPr>
            <a:lvl5pPr>
              <a:defRPr lang="en-US" baseline="0" noProof="0" dirty="0" smtClean="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0524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39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150"/>
            <a:ext cx="10094976" cy="115214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753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6753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56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638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76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987425"/>
            <a:ext cx="5753100" cy="461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77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00600" y="987425"/>
            <a:ext cx="5753100" cy="46132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957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795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91661"/>
            <a:ext cx="2628900" cy="49090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91661"/>
            <a:ext cx="7734300" cy="49090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25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9793"/>
            <a:ext cx="10096500" cy="11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096500" cy="377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564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 cap="none" spc="0">
          <a:ln w="12700" cmpd="sng">
            <a:noFill/>
            <a:prstDash val="solid"/>
          </a:ln>
          <a:solidFill>
            <a:schemeClr val="accent4">
              <a:lumMod val="50000"/>
            </a:schemeClr>
          </a:solidFill>
          <a:effectLst>
            <a:outerShdw blurRad="38100" dist="38100" dir="2700000" algn="tl">
              <a:srgbClr val="000000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6648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2490" y="1031973"/>
            <a:ext cx="9807019" cy="23876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 DETECTION FOR BLIND </a:t>
            </a:r>
            <a:r>
              <a:rPr lang="en-US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07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Project </a:t>
            </a:r>
            <a:r>
              <a:rPr lang="en-US" dirty="0" smtClean="0"/>
              <a:t>Manager: Dr</a:t>
            </a:r>
            <a:r>
              <a:rPr lang="en-US" dirty="0"/>
              <a:t>. Muhammad </a:t>
            </a:r>
            <a:r>
              <a:rPr lang="en-US" dirty="0" err="1" smtClean="0"/>
              <a:t>Ilyas</a:t>
            </a:r>
            <a:endParaRPr lang="en-US" dirty="0" smtClean="0"/>
          </a:p>
          <a:p>
            <a:pPr algn="l"/>
            <a:r>
              <a:rPr lang="en-US" dirty="0" smtClean="0"/>
              <a:t>Internal Advisor: Prof</a:t>
            </a:r>
            <a:r>
              <a:rPr lang="en-US" dirty="0"/>
              <a:t>. Muhammad </a:t>
            </a:r>
            <a:r>
              <a:rPr lang="en-US" dirty="0" smtClean="0"/>
              <a:t>Fahad</a:t>
            </a:r>
          </a:p>
          <a:p>
            <a:pPr algn="l"/>
            <a:r>
              <a:rPr lang="en-US" dirty="0"/>
              <a:t>Project Team: </a:t>
            </a:r>
          </a:p>
          <a:p>
            <a:pPr algn="l"/>
            <a:r>
              <a:rPr lang="en-US" dirty="0"/>
              <a:t>Ali Raza Ansari (BSCS51F22S008) — Team Leader</a:t>
            </a:r>
          </a:p>
          <a:p>
            <a:pPr algn="l"/>
            <a:r>
              <a:rPr lang="en-US" dirty="0" smtClean="0"/>
              <a:t>Abdullah </a:t>
            </a:r>
            <a:r>
              <a:rPr lang="en-US" dirty="0" err="1"/>
              <a:t>Zammad</a:t>
            </a:r>
            <a:r>
              <a:rPr lang="en-US" dirty="0"/>
              <a:t> (BSCS51F22S036) — Team Member</a:t>
            </a:r>
          </a:p>
          <a:p>
            <a:pPr algn="l"/>
            <a:r>
              <a:rPr lang="en-US" dirty="0" smtClean="0"/>
              <a:t>M. Hassan (BSCS51F22S040) — Team Member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088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Millions </a:t>
            </a:r>
            <a:r>
              <a:rPr lang="en-US" dirty="0"/>
              <a:t>of </a:t>
            </a:r>
            <a:r>
              <a:rPr lang="en-US" dirty="0" smtClean="0"/>
              <a:t>people with visual impairments </a:t>
            </a:r>
            <a:r>
              <a:rPr lang="en-US" dirty="0"/>
              <a:t>struggle to navigate and understand their surroundings </a:t>
            </a:r>
            <a:r>
              <a:rPr lang="en-US" dirty="0" smtClean="0"/>
              <a:t>independently. Traditional </a:t>
            </a:r>
            <a:r>
              <a:rPr lang="en-US" dirty="0"/>
              <a:t>tools like canes and guide dogs help with </a:t>
            </a:r>
            <a:r>
              <a:rPr lang="en-US" dirty="0" smtClean="0"/>
              <a:t>movement, </a:t>
            </a:r>
            <a:r>
              <a:rPr lang="en-US" dirty="0"/>
              <a:t>but cannot identify specific </a:t>
            </a:r>
            <a:r>
              <a:rPr lang="en-US" dirty="0" smtClean="0"/>
              <a:t>objects. Modern </a:t>
            </a:r>
            <a:r>
              <a:rPr lang="en-US" dirty="0"/>
              <a:t>technology now </a:t>
            </a:r>
            <a:r>
              <a:rPr lang="en-US" dirty="0" smtClean="0"/>
              <a:t>enables smartphones to perform </a:t>
            </a:r>
            <a:r>
              <a:rPr lang="en-US" dirty="0"/>
              <a:t>real-time object detection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project creates a mobile app that helps visually impaired users "see" their environment through AI-powered object detection and voice feedback.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124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does this system do?</a:t>
            </a:r>
            <a:endParaRPr lang="en-US" dirty="0"/>
          </a:p>
          <a:p>
            <a:r>
              <a:rPr lang="en-US" dirty="0"/>
              <a:t>Detects objects in real-time using the smartphone camera</a:t>
            </a:r>
          </a:p>
          <a:p>
            <a:r>
              <a:rPr lang="en-US" dirty="0"/>
              <a:t>Uses artificial intelligence to recognize what's around the user</a:t>
            </a:r>
          </a:p>
          <a:p>
            <a:r>
              <a:rPr lang="en-US" dirty="0"/>
              <a:t>Speaks out the names of detected objects through audio feedback</a:t>
            </a:r>
          </a:p>
          <a:p>
            <a:r>
              <a:rPr lang="en-US" dirty="0"/>
              <a:t>Works completely offline on Android phones</a:t>
            </a:r>
          </a:p>
          <a:p>
            <a:r>
              <a:rPr lang="en-US" dirty="0"/>
              <a:t>Designed to be simple, safe, and easy to use</a:t>
            </a:r>
          </a:p>
        </p:txBody>
      </p:sp>
    </p:spTree>
    <p:extLst>
      <p:ext uri="{BB962C8B-B14F-4D97-AF65-F5344CB8AC3E}">
        <p14:creationId xmlns:p14="http://schemas.microsoft.com/office/powerpoint/2010/main" xmlns="" val="5668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b="1" dirty="0"/>
              <a:t>Real-Time Detection</a:t>
            </a:r>
            <a:r>
              <a:rPr lang="en-US" dirty="0"/>
              <a:t> - Instantly identifies objects as you point your camera</a:t>
            </a:r>
            <a:br>
              <a:rPr lang="en-US" dirty="0"/>
            </a:br>
            <a:r>
              <a:rPr lang="en-US" dirty="0" smtClean="0"/>
              <a:t>✓ </a:t>
            </a:r>
            <a:r>
              <a:rPr lang="en-US" b="1" dirty="0"/>
              <a:t>Voice Feedback</a:t>
            </a:r>
            <a:r>
              <a:rPr lang="en-US" dirty="0"/>
              <a:t> - Speaks object names clearly using text-to-speech</a:t>
            </a:r>
            <a:br>
              <a:rPr lang="en-US" dirty="0"/>
            </a:br>
            <a:r>
              <a:rPr lang="en-US" dirty="0" smtClean="0"/>
              <a:t>✓ </a:t>
            </a:r>
            <a:r>
              <a:rPr lang="en-US" b="1" dirty="0"/>
              <a:t>Works Offline</a:t>
            </a:r>
            <a:r>
              <a:rPr lang="en-US" dirty="0"/>
              <a:t> - No internet connection needed</a:t>
            </a:r>
            <a:br>
              <a:rPr lang="en-US" dirty="0"/>
            </a:br>
            <a:r>
              <a:rPr lang="en-US" dirty="0" smtClean="0"/>
              <a:t>✓ </a:t>
            </a:r>
            <a:r>
              <a:rPr lang="en-US" b="1" dirty="0" smtClean="0"/>
              <a:t>Lightweight</a:t>
            </a:r>
            <a:r>
              <a:rPr lang="en-US" dirty="0" smtClean="0"/>
              <a:t> </a:t>
            </a:r>
            <a:r>
              <a:rPr lang="en-US" dirty="0"/>
              <a:t>- Runs smoothly on standard Android </a:t>
            </a:r>
            <a:r>
              <a:rPr lang="en-US" dirty="0" smtClean="0"/>
              <a:t>devices</a:t>
            </a:r>
            <a:br>
              <a:rPr lang="en-US" dirty="0" smtClean="0"/>
            </a:br>
            <a:r>
              <a:rPr lang="en-US" dirty="0" smtClean="0"/>
              <a:t>✓ </a:t>
            </a:r>
            <a:r>
              <a:rPr lang="en-US" b="1" dirty="0" smtClean="0"/>
              <a:t>User-Friendly</a:t>
            </a:r>
            <a:r>
              <a:rPr lang="en-US" dirty="0" smtClean="0"/>
              <a:t> </a:t>
            </a:r>
            <a:r>
              <a:rPr lang="en-US" dirty="0"/>
              <a:t>- Simple interface designed for visually impaired users</a:t>
            </a:r>
            <a:br>
              <a:rPr lang="en-US" dirty="0"/>
            </a:br>
            <a:r>
              <a:rPr lang="en-US" dirty="0" smtClean="0"/>
              <a:t>✓ </a:t>
            </a:r>
            <a:r>
              <a:rPr lang="en-US" b="1" dirty="0" smtClean="0"/>
              <a:t>Smart </a:t>
            </a:r>
            <a:r>
              <a:rPr lang="en-US" b="1" dirty="0"/>
              <a:t>Alerts</a:t>
            </a:r>
            <a:r>
              <a:rPr lang="en-US" dirty="0"/>
              <a:t> - Only announces objects it's confident about</a:t>
            </a:r>
          </a:p>
        </p:txBody>
      </p:sp>
    </p:spTree>
    <p:extLst>
      <p:ext uri="{BB962C8B-B14F-4D97-AF65-F5344CB8AC3E}">
        <p14:creationId xmlns:p14="http://schemas.microsoft.com/office/powerpoint/2010/main" xmlns="" val="235437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825625"/>
            <a:ext cx="1082668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Tools and Technologies:</a:t>
            </a:r>
            <a:endParaRPr lang="en-US" dirty="0"/>
          </a:p>
          <a:p>
            <a:r>
              <a:rPr lang="en-US" b="1" dirty="0"/>
              <a:t>App Development:</a:t>
            </a:r>
            <a:r>
              <a:rPr lang="en-US" dirty="0"/>
              <a:t> Flutter (for Android</a:t>
            </a:r>
            <a:r>
              <a:rPr lang="en-US" dirty="0" smtClean="0"/>
              <a:t>)</a:t>
            </a:r>
          </a:p>
          <a:p>
            <a:r>
              <a:rPr b="1"/>
              <a:t>Detection Model:</a:t>
            </a:r>
            <a:r>
              <a:rPr/>
              <a:t> computer vision model YOLOv8 (advanced object detection), SSD etc</a:t>
            </a:r>
            <a:r>
              <a:rPr smtClean="0"/>
              <a:t>.</a:t>
            </a:r>
            <a:endParaRPr lang="en-US" dirty="0" smtClean="0"/>
          </a:p>
          <a:p>
            <a:r>
              <a:rPr b="1" smtClean="0"/>
              <a:t>Model manage : </a:t>
            </a:r>
            <a:r>
              <a:rPr smtClean="0"/>
              <a:t>T</a:t>
            </a:r>
            <a:r>
              <a:rPr lang="en-US" dirty="0" smtClean="0"/>
              <a:t>f</a:t>
            </a:r>
            <a:r>
              <a:rPr smtClean="0"/>
              <a:t>lite use to work with ai model</a:t>
            </a:r>
            <a:endParaRPr lang="en-US" dirty="0"/>
          </a:p>
          <a:p>
            <a:r>
              <a:rPr lang="en-US" b="1" dirty="0"/>
              <a:t>AI </a:t>
            </a:r>
            <a:r>
              <a:rPr lang="en-US" b="1" dirty="0" smtClean="0"/>
              <a:t>Model Training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smtClean="0"/>
              <a:t>Google </a:t>
            </a:r>
            <a:r>
              <a:rPr lang="en-US" dirty="0" err="1" smtClean="0"/>
              <a:t>collab</a:t>
            </a:r>
            <a:r>
              <a:rPr lang="en-US" dirty="0" smtClean="0"/>
              <a:t> , Python </a:t>
            </a:r>
            <a:endParaRPr lang="en-US" dirty="0"/>
          </a:p>
          <a:p>
            <a:r>
              <a:rPr lang="en-US" b="1" dirty="0" smtClean="0"/>
              <a:t>Voice </a:t>
            </a:r>
            <a:r>
              <a:rPr lang="en-US" b="1" dirty="0"/>
              <a:t>Output</a:t>
            </a:r>
            <a:r>
              <a:rPr lang="en-US" b="1" dirty="0" smtClean="0"/>
              <a:t>:</a:t>
            </a:r>
            <a:r>
              <a:rPr lang="en-US" dirty="0" smtClean="0"/>
              <a:t> Text-to-Speech Engine</a:t>
            </a:r>
            <a:endParaRPr lang="en-US" dirty="0"/>
          </a:p>
          <a:p>
            <a:r>
              <a:rPr lang="en-US" b="1" dirty="0"/>
              <a:t>Image </a:t>
            </a:r>
            <a:r>
              <a:rPr lang="en-US" b="1" dirty="0" smtClean="0"/>
              <a:t>Preprocessing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OpenCV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9006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90700"/>
            <a:ext cx="1070413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Step-by-Step Process:</a:t>
            </a:r>
            <a:endParaRPr lang="en-US" dirty="0"/>
          </a:p>
          <a:p>
            <a:r>
              <a:rPr lang="en-US" b="1" dirty="0"/>
              <a:t>Camera captures</a:t>
            </a:r>
            <a:r>
              <a:rPr lang="en-US" dirty="0"/>
              <a:t> live video from the environment</a:t>
            </a:r>
          </a:p>
          <a:p>
            <a:r>
              <a:rPr lang="en-US" b="1" dirty="0"/>
              <a:t>Images are processed</a:t>
            </a:r>
            <a:r>
              <a:rPr lang="en-US" dirty="0"/>
              <a:t> directly on the phone</a:t>
            </a:r>
          </a:p>
          <a:p>
            <a:r>
              <a:rPr lang="en-US" b="1" dirty="0"/>
              <a:t>AI model identifies</a:t>
            </a:r>
            <a:r>
              <a:rPr lang="en-US" dirty="0"/>
              <a:t> objects in the scene</a:t>
            </a:r>
          </a:p>
          <a:p>
            <a:r>
              <a:rPr lang="en-US" b="1" dirty="0"/>
              <a:t>Results are converted</a:t>
            </a:r>
            <a:r>
              <a:rPr lang="en-US" dirty="0"/>
              <a:t> into spoken words</a:t>
            </a:r>
          </a:p>
          <a:p>
            <a:r>
              <a:rPr lang="en-US" b="1" dirty="0"/>
              <a:t>User hears</a:t>
            </a:r>
            <a:r>
              <a:rPr lang="en-US" dirty="0"/>
              <a:t> what objects are nearby through audio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806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90700"/>
            <a:ext cx="1077012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Flow: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Camera Input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Image Preprocessing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YOLOv8 AI Model (</a:t>
            </a:r>
            <a:r>
              <a:rPr lang="en-US" dirty="0" err="1"/>
              <a:t>TensorFlow</a:t>
            </a:r>
            <a:r>
              <a:rPr lang="en-US" dirty="0"/>
              <a:t> Lite)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Object Detection Results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Text-to-Speech Conversion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Audio Feedback to User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302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94948" y="1825625"/>
            <a:ext cx="2002604" cy="4351338"/>
          </a:xfrm>
        </p:spPr>
      </p:pic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we've built:</a:t>
            </a:r>
            <a:endParaRPr lang="en-US" dirty="0"/>
          </a:p>
          <a:p>
            <a:r>
              <a:rPr lang="en-US" dirty="0"/>
              <a:t>Working camera interface in Flutter</a:t>
            </a:r>
          </a:p>
          <a:p>
            <a:r>
              <a:rPr lang="en-US" dirty="0"/>
              <a:t>Real-time video preview</a:t>
            </a:r>
          </a:p>
          <a:p>
            <a:r>
              <a:rPr lang="en-US" dirty="0"/>
              <a:t>Live object </a:t>
            </a:r>
            <a:r>
              <a:rPr lang="en-US" dirty="0" smtClean="0"/>
              <a:t>detection</a:t>
            </a:r>
          </a:p>
          <a:p>
            <a:r>
              <a:rPr lang="en-US" dirty="0" smtClean="0"/>
              <a:t>Confidence level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652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1075127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Summary: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Successfully created a working system that detects objects in real-time on mobile devices, provides practical assistance for visually impaired individuals, and maintains user privacy by working completely </a:t>
            </a:r>
            <a:r>
              <a:rPr lang="en-US" dirty="0" smtClean="0"/>
              <a:t>offline. Can </a:t>
            </a:r>
            <a:r>
              <a:rPr lang="en-US" dirty="0"/>
              <a:t>be expanded with features like distance </a:t>
            </a:r>
            <a:r>
              <a:rPr lang="en-US" dirty="0" smtClean="0"/>
              <a:t>navigation </a:t>
            </a:r>
            <a:r>
              <a:rPr lang="en-US" dirty="0"/>
              <a:t>guidance</a:t>
            </a:r>
          </a:p>
          <a:p>
            <a:r>
              <a:rPr lang="en-US" b="1" dirty="0"/>
              <a:t>Impact:</a:t>
            </a:r>
            <a:r>
              <a:rPr lang="en-US" dirty="0"/>
              <a:t> This system can improve independence and safety for visually impaired people in their daily lives.</a:t>
            </a:r>
          </a:p>
        </p:txBody>
      </p:sp>
    </p:spTree>
    <p:extLst>
      <p:ext uri="{BB962C8B-B14F-4D97-AF65-F5344CB8AC3E}">
        <p14:creationId xmlns:p14="http://schemas.microsoft.com/office/powerpoint/2010/main" xmlns="" val="324333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26" y="2581715"/>
            <a:ext cx="10647575" cy="2093980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r>
              <a:rPr lang="en-US" i="1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664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rtical Lexicon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tx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Vertical lexicon design slides.potx" id="{49C7086D-B6BF-42C9-B2E9-7A6F5A963EAA}" vid="{839E83B1-FF0C-49E8-8563-59D864F05AE3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lexicon design slides</Template>
  <TotalTime>27</TotalTime>
  <Words>371</Words>
  <Application>Microsoft Office PowerPoint</Application>
  <PresentationFormat>Custom</PresentationFormat>
  <Paragraphs>49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Vertical Lexicon design template</vt:lpstr>
      <vt:lpstr>ENVIRONMENT DETECTION FOR BLIND USERS</vt:lpstr>
      <vt:lpstr>Introduction</vt:lpstr>
      <vt:lpstr>Project Overview</vt:lpstr>
      <vt:lpstr>Key Features</vt:lpstr>
      <vt:lpstr>Technology Stack</vt:lpstr>
      <vt:lpstr>How It Works</vt:lpstr>
      <vt:lpstr>System Architecture</vt:lpstr>
      <vt:lpstr>Prototype</vt:lpstr>
      <vt:lpstr>Conclusion</vt:lpstr>
      <vt:lpstr>Thank You! Questions?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DETECTION FOR BLIND USERS</dc:title>
  <dc:creator>Pak</dc:creator>
  <cp:lastModifiedBy>Rameez</cp:lastModifiedBy>
  <cp:revision>4</cp:revision>
  <dcterms:created xsi:type="dcterms:W3CDTF">2026-01-06T17:38:03Z</dcterms:created>
  <dcterms:modified xsi:type="dcterms:W3CDTF">2026-01-07T05:20:53Z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