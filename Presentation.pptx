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70" r:id="rId7"/>
    <p:sldId id="274" r:id="rId8"/>
    <p:sldId id="264" r:id="rId9"/>
    <p:sldId id="273" r:id="rId10"/>
    <p:sldId id="271" r:id="rId11"/>
    <p:sldId id="265" r:id="rId12"/>
    <p:sldId id="266" r:id="rId13"/>
    <p:sldId id="267" r:id="rId14"/>
    <p:sldId id="263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6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41944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123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NAVISENCE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</a:t>
            </a:r>
            <a:r>
              <a:rPr lang="en-US" sz="1400" b="1" kern="0" spc="600" dirty="0" smtClean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NAVISENSE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Object Detection App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Detection for the Visually Impaired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1371600" cy="0"/>
          </a:xfrm>
          <a:prstGeom prst="line">
            <a:avLst/>
          </a:prstGeom>
          <a:noFill/>
          <a:ln w="38100">
            <a:solidFill>
              <a:srgbClr val="00D4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Ali Raza Ansari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BSCS51F22S008 — Team Leader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Abdullah Zammad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BSCS51F22S036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5715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Hassan Javed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BSCS51F22S040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Muhammad Fahad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Muhammad Ilyas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5943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Sargodha · Department of Computer Science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EDBP-2025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kern="0" spc="400" dirty="0" smtClean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731520" cy="0"/>
          </a:xfrm>
          <a:prstGeom prst="line">
            <a:avLst/>
          </a:prstGeom>
          <a:noFill/>
          <a:ln w="38100">
            <a:solidFill>
              <a:srgbClr val="00D4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4377587" cy="4114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698" y="1870812"/>
            <a:ext cx="364606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995130" y="3425292"/>
            <a:ext cx="19787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95130" y="39739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worldwide live with vision impairment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577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Health Organization, 2023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6035040" y="1965960"/>
            <a:ext cx="109728" cy="64008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Awareness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09360" y="2194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canes detect ground obstacles but cannot identify what the object actually is.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017520"/>
            <a:ext cx="109728" cy="64008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09360" y="3246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AI devices like OrCam MyEye are prohibitively expensive for most users.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4069080"/>
            <a:ext cx="109728" cy="64008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Required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09360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existing camera-based apps depend on cloud APIs, making them useless in low-connectivity areas.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5120640"/>
            <a:ext cx="109728" cy="64008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09360" y="5349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vision apps continuously upload camera frames containing personal context.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1428"/>
          </a:solidFill>
          <a:ln w="12700">
            <a:solidFill>
              <a:srgbClr val="0814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73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NAVISENCE  ·  EDBP-2025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820095" y="6473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5"/>
          <p:cNvSpPr/>
          <p:nvPr/>
        </p:nvSpPr>
        <p:spPr>
          <a:xfrm>
            <a:off x="9466923" y="3017520"/>
            <a:ext cx="2054517" cy="219456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8" name="Shape 6"/>
          <p:cNvSpPr/>
          <p:nvPr/>
        </p:nvSpPr>
        <p:spPr>
          <a:xfrm>
            <a:off x="9466923" y="3017520"/>
            <a:ext cx="2054517" cy="9144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27" name="Shape 5"/>
          <p:cNvSpPr/>
          <p:nvPr/>
        </p:nvSpPr>
        <p:spPr>
          <a:xfrm>
            <a:off x="2755557" y="3017520"/>
            <a:ext cx="2054517" cy="219456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8" name="Shape 6"/>
          <p:cNvSpPr/>
          <p:nvPr/>
        </p:nvSpPr>
        <p:spPr>
          <a:xfrm>
            <a:off x="2755557" y="3017520"/>
            <a:ext cx="2054517" cy="9144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r>
              <a:rPr lang="en-US" sz="32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</a:t>
            </a:r>
            <a:r>
              <a:rPr lang="en-US" sz="3200" b="1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NAVISENSE</a:t>
            </a: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731520" cy="0"/>
          </a:xfrm>
          <a:prstGeom prst="line">
            <a:avLst/>
          </a:prstGeom>
          <a:noFill/>
          <a:ln w="38100">
            <a:solidFill>
              <a:srgbClr val="00D4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offline mobile application that uses </a:t>
            </a:r>
            <a:r>
              <a:rPr lang="en-US" sz="1800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</a:t>
            </a:r>
            <a:r>
              <a:rPr lang="en-US" sz="18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 help visually impaired users perceive their surroundings through spoken audio feedback.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054517" cy="219456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017520"/>
            <a:ext cx="2054517" cy="9144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</a:t>
            </a:r>
            <a:r>
              <a:rPr lang="en-US" sz="18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· car · chair · door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· stair · tree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16517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16517" y="37947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· Center · Right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object position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20263" y="32842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53956" y="38252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· No cloud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leaves device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577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"Real-time perception in your pocket. No internet. No subscription. No compromise."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1428"/>
          </a:solidFill>
          <a:ln w="12700">
            <a:solidFill>
              <a:srgbClr val="0814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73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NAVISENCE  ·  EDBP-2025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820095" y="6473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  <p:sp>
        <p:nvSpPr>
          <p:cNvPr id="29" name="Shape 5"/>
          <p:cNvSpPr/>
          <p:nvPr/>
        </p:nvSpPr>
        <p:spPr>
          <a:xfrm>
            <a:off x="5007781" y="3017520"/>
            <a:ext cx="2054517" cy="219456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0" name="Shape 6"/>
          <p:cNvSpPr/>
          <p:nvPr/>
        </p:nvSpPr>
        <p:spPr>
          <a:xfrm>
            <a:off x="5007781" y="3017520"/>
            <a:ext cx="2054517" cy="9144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254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Distance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82540" y="37947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· Medium · Far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calibration</a:t>
            </a:r>
            <a:endParaRPr lang="en-US" sz="1300" dirty="0"/>
          </a:p>
        </p:txBody>
      </p:sp>
      <p:sp>
        <p:nvSpPr>
          <p:cNvPr id="33" name="Shape 5"/>
          <p:cNvSpPr/>
          <p:nvPr/>
        </p:nvSpPr>
        <p:spPr>
          <a:xfrm>
            <a:off x="7214698" y="3017520"/>
            <a:ext cx="2054517" cy="219456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4" name="Shape 6"/>
          <p:cNvSpPr/>
          <p:nvPr/>
        </p:nvSpPr>
        <p:spPr>
          <a:xfrm>
            <a:off x="7214698" y="3017520"/>
            <a:ext cx="2054517" cy="9144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35" name="Text 15"/>
          <p:cNvSpPr/>
          <p:nvPr/>
        </p:nvSpPr>
        <p:spPr>
          <a:xfrm>
            <a:off x="7298436" y="32842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</a:t>
            </a:r>
            <a:r>
              <a:rPr lang="en-US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8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Speech</a:t>
            </a:r>
            <a:endParaRPr lang="en-US" sz="1800" dirty="0"/>
          </a:p>
        </p:txBody>
      </p:sp>
      <p:sp>
        <p:nvSpPr>
          <p:cNvPr id="36" name="Text 16"/>
          <p:cNvSpPr/>
          <p:nvPr/>
        </p:nvSpPr>
        <p:spPr>
          <a:xfrm>
            <a:off x="7298436" y="37871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· Center · Far</a:t>
            </a:r>
            <a:endParaRPr lang="en-US" sz="1300" dirty="0" smtClean="0"/>
          </a:p>
          <a:p>
            <a:r>
              <a:rPr lang="en-US" sz="1300" dirty="0" smtClean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object position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</a:t>
            </a:r>
            <a:r>
              <a:rPr lang="en-US" sz="32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731520" cy="0"/>
          </a:xfrm>
          <a:prstGeom prst="line">
            <a:avLst/>
          </a:prstGeom>
          <a:noFill/>
          <a:ln w="38100">
            <a:solidFill>
              <a:srgbClr val="00D4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6588" y="1920240"/>
            <a:ext cx="1783080" cy="1371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80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3748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3748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YUV420 frame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(~30 fps)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3676" y="1920240"/>
            <a:ext cx="1783080" cy="1371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511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70836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70836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YUV→RGB · </a:t>
            </a:r>
            <a:r>
              <a:rPr lang="en-US" sz="1000" dirty="0" smtClean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(416 * 416)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80764" y="1920240"/>
            <a:ext cx="1783080" cy="1371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2204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17924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smtClean="0">
                <a:solidFill>
                  <a:schemeClr val="bg1"/>
                </a:solidFill>
              </a:rPr>
              <a:t>Model Detection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17924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inference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(TFLite, 4 threads)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38766" y="1920240"/>
            <a:ext cx="1783080" cy="1371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020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75926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+ NMS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75926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threshold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filter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928555" y="1920240"/>
            <a:ext cx="1783080" cy="1371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1999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65715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065715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gate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flutter_tts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1428"/>
          </a:solidFill>
          <a:ln w="12700">
            <a:solidFill>
              <a:srgbClr val="0814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473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NAVISENCE  ·  EDBP-2025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820095" y="6473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  <p:sp>
        <p:nvSpPr>
          <p:cNvPr id="52" name="Shape 24"/>
          <p:cNvSpPr/>
          <p:nvPr/>
        </p:nvSpPr>
        <p:spPr>
          <a:xfrm>
            <a:off x="8015004" y="1920240"/>
            <a:ext cx="1783080" cy="1371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3" name="Text 25"/>
          <p:cNvSpPr/>
          <p:nvPr/>
        </p:nvSpPr>
        <p:spPr>
          <a:xfrm>
            <a:off x="813939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26"/>
          <p:cNvSpPr/>
          <p:nvPr/>
        </p:nvSpPr>
        <p:spPr>
          <a:xfrm>
            <a:off x="8185116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Tags</a:t>
            </a:r>
            <a:endParaRPr lang="en-US" sz="1500" dirty="0"/>
          </a:p>
        </p:txBody>
      </p:sp>
      <p:sp>
        <p:nvSpPr>
          <p:cNvPr id="55" name="Text 27"/>
          <p:cNvSpPr/>
          <p:nvPr/>
        </p:nvSpPr>
        <p:spPr>
          <a:xfrm>
            <a:off x="8185116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+ Distance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Tool </a:t>
            </a: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731520" cy="0"/>
          </a:xfrm>
          <a:prstGeom prst="line">
            <a:avLst/>
          </a:prstGeom>
          <a:noFill/>
          <a:ln w="38100">
            <a:solidFill>
              <a:srgbClr val="00D4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 smtClean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8640" cy="0"/>
          </a:xfrm>
          <a:prstGeom prst="line">
            <a:avLst/>
          </a:prstGeom>
          <a:noFill/>
          <a:ln w="25400">
            <a:solidFill>
              <a:srgbClr val="00D4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68880"/>
            <a:ext cx="3749040" cy="96012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68880"/>
            <a:ext cx="73152" cy="96012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/>
              <a:t>Google </a:t>
            </a:r>
            <a:endParaRPr lang="en-US" sz="1600" b="1" dirty="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images for dataset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3749040" cy="96012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566160"/>
            <a:ext cx="73152" cy="96012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0B1F3A"/>
                </a:solidFill>
                <a:latin typeface="Calibri" pitchFamily="34" charset="0"/>
                <a:cs typeface="Calibri" pitchFamily="34" charset="-120"/>
              </a:rPr>
              <a:t>Android Smartphone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4023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phone to take real environment images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3749040" cy="96012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663440"/>
            <a:ext cx="73152" cy="96012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5120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smtClean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annotation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 smtClean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0" y="2194560"/>
            <a:ext cx="548640" cy="0"/>
          </a:xfrm>
          <a:prstGeom prst="line">
            <a:avLst/>
          </a:prstGeom>
          <a:noFill/>
          <a:ln w="25400">
            <a:solidFill>
              <a:srgbClr val="00D4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468880"/>
            <a:ext cx="3749040" cy="96012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2468880"/>
            <a:ext cx="73152" cy="96012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3566160"/>
            <a:ext cx="3749040" cy="96012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3566160"/>
            <a:ext cx="73152" cy="96012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4663440"/>
            <a:ext cx="3749040" cy="96012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0" y="4663440"/>
            <a:ext cx="73152" cy="96012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 smtClean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DEVELOPMENT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12480" y="2194560"/>
            <a:ext cx="548640" cy="0"/>
          </a:xfrm>
          <a:prstGeom prst="line">
            <a:avLst/>
          </a:prstGeom>
          <a:noFill/>
          <a:ln w="25400">
            <a:solidFill>
              <a:srgbClr val="00D4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2468880"/>
            <a:ext cx="3749040" cy="96012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2468880"/>
            <a:ext cx="73152" cy="96012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41080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4108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a IDE 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412480" y="3566160"/>
            <a:ext cx="3749040" cy="96012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12480" y="3566160"/>
            <a:ext cx="73152" cy="96012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4108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(Dart)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41080" y="4023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smtClean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framework (Dart)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412480" y="4663440"/>
            <a:ext cx="3749040" cy="96012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12480" y="4663440"/>
            <a:ext cx="73152" cy="96012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4108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+ GetX + Git &amp; Github 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41080" y="5120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Tool use  during app development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0" y="6431280"/>
            <a:ext cx="12191695" cy="411480"/>
          </a:xfrm>
          <a:prstGeom prst="rect">
            <a:avLst/>
          </a:prstGeom>
          <a:solidFill>
            <a:srgbClr val="081428"/>
          </a:solidFill>
          <a:ln w="12700">
            <a:solidFill>
              <a:srgbClr val="0814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473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NAVISENCE  ·  EDBP-2025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820095" y="6473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  <p:sp>
        <p:nvSpPr>
          <p:cNvPr id="51" name="Text 30"/>
          <p:cNvSpPr/>
          <p:nvPr/>
        </p:nvSpPr>
        <p:spPr>
          <a:xfrm>
            <a:off x="4692684" y="253560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600" dirty="0"/>
          </a:p>
        </p:txBody>
      </p:sp>
      <p:sp>
        <p:nvSpPr>
          <p:cNvPr id="52" name="Text 31"/>
          <p:cNvSpPr/>
          <p:nvPr/>
        </p:nvSpPr>
        <p:spPr>
          <a:xfrm>
            <a:off x="4692684" y="290136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environment (GPU)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17398" y="473922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17398" y="510498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 runtime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</a:t>
            </a:r>
            <a:r>
              <a:rPr lang="en-US" sz="16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+ Ultralytics + Python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09160" y="4023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model (Ultralytics)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00" dirty="0" smtClean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 – ROBOFLOW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731520" cy="0"/>
          </a:xfrm>
          <a:prstGeom prst="line">
            <a:avLst/>
          </a:prstGeom>
          <a:noFill/>
          <a:ln w="38100">
            <a:solidFill>
              <a:srgbClr val="00D4A8"/>
            </a:solidFill>
            <a:prstDash val="solid"/>
          </a:ln>
        </p:spPr>
      </p:sp>
      <p:sp>
        <p:nvSpPr>
          <p:cNvPr id="42" name="Shape 4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1428"/>
          </a:solidFill>
          <a:ln w="12700">
            <a:solidFill>
              <a:srgbClr val="081428"/>
            </a:solidFill>
            <a:prstDash val="solid"/>
          </a:ln>
        </p:spPr>
      </p:sp>
      <p:sp>
        <p:nvSpPr>
          <p:cNvPr id="43" name="Text 47"/>
          <p:cNvSpPr/>
          <p:nvPr/>
        </p:nvSpPr>
        <p:spPr>
          <a:xfrm>
            <a:off x="457200" y="6473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NAVISENCE  ·  EDBP-2025</a:t>
            </a:r>
            <a:endParaRPr lang="en-US" sz="1000" dirty="0"/>
          </a:p>
        </p:txBody>
      </p:sp>
      <p:sp>
        <p:nvSpPr>
          <p:cNvPr id="44" name="Text 48"/>
          <p:cNvSpPr/>
          <p:nvPr/>
        </p:nvSpPr>
        <p:spPr>
          <a:xfrm>
            <a:off x="10820095" y="6473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  <p:pic>
        <p:nvPicPr>
          <p:cNvPr id="51" name="Picture 50" descr="bo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46493"/>
            <a:ext cx="8846191" cy="4358592"/>
          </a:xfrm>
          <a:prstGeom prst="rect">
            <a:avLst/>
          </a:prstGeom>
        </p:spPr>
      </p:pic>
      <p:sp>
        <p:nvSpPr>
          <p:cNvPr id="52" name="Right Arrow 51"/>
          <p:cNvSpPr/>
          <p:nvPr/>
        </p:nvSpPr>
        <p:spPr>
          <a:xfrm>
            <a:off x="7623295" y="3262184"/>
            <a:ext cx="2040822" cy="3212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 1"/>
          <p:cNvSpPr/>
          <p:nvPr/>
        </p:nvSpPr>
        <p:spPr>
          <a:xfrm>
            <a:off x="7623295" y="2832581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00" dirty="0" smtClean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54" name="Text 1"/>
          <p:cNvSpPr/>
          <p:nvPr/>
        </p:nvSpPr>
        <p:spPr>
          <a:xfrm>
            <a:off x="9853063" y="2978092"/>
            <a:ext cx="1881432" cy="97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00" dirty="0" smtClean="0">
                <a:latin typeface="Arial Black" pitchFamily="34" charset="0"/>
                <a:ea typeface="Calibri" pitchFamily="34" charset="-122"/>
                <a:cs typeface="Calibri" pitchFamily="34" charset="-120"/>
              </a:rPr>
              <a:t>CLASS ID</a:t>
            </a:r>
          </a:p>
          <a:p>
            <a:r>
              <a:rPr lang="en-US" sz="1200" b="1" kern="0" spc="400" dirty="0" smtClean="0">
                <a:latin typeface="Arial Black" pitchFamily="34" charset="0"/>
                <a:cs typeface="Calibri" pitchFamily="34" charset="-120"/>
              </a:rPr>
              <a:t>HEIGHT</a:t>
            </a:r>
          </a:p>
          <a:p>
            <a:r>
              <a:rPr lang="en-US" sz="1200" b="1" kern="0" spc="400" dirty="0" smtClean="0">
                <a:latin typeface="Arial Black" pitchFamily="34" charset="0"/>
                <a:cs typeface="Calibri" pitchFamily="34" charset="-120"/>
              </a:rPr>
              <a:t>WIDTH</a:t>
            </a:r>
          </a:p>
          <a:p>
            <a:r>
              <a:rPr lang="en-US" sz="1200" b="1" kern="0" spc="400" dirty="0" smtClean="0">
                <a:latin typeface="Arial Black" pitchFamily="34" charset="0"/>
                <a:cs typeface="Calibri" pitchFamily="34" charset="-120"/>
              </a:rPr>
              <a:t>X-AXIS</a:t>
            </a:r>
          </a:p>
          <a:p>
            <a:r>
              <a:rPr lang="en-US" sz="1200" b="1" kern="0" spc="400" dirty="0" smtClean="0">
                <a:latin typeface="Arial Black" pitchFamily="34" charset="0"/>
                <a:cs typeface="Calibri" pitchFamily="34" charset="-120"/>
              </a:rPr>
              <a:t>Y-AXIS</a:t>
            </a:r>
            <a:endParaRPr lang="en-US" sz="1200" dirty="0">
              <a:latin typeface="Arial Black" pitchFamily="34" charset="0"/>
            </a:endParaRPr>
          </a:p>
        </p:txBody>
      </p:sp>
      <p:sp>
        <p:nvSpPr>
          <p:cNvPr id="55" name="Text 2"/>
          <p:cNvSpPr/>
          <p:nvPr/>
        </p:nvSpPr>
        <p:spPr>
          <a:xfrm>
            <a:off x="9811118" y="2271548"/>
            <a:ext cx="1560632" cy="6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Nano · </a:t>
            </a:r>
            <a:r>
              <a:rPr lang="en-US" sz="32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Overview</a:t>
            </a:r>
            <a:endParaRPr lang="en-US" sz="3200" dirty="0"/>
          </a:p>
        </p:txBody>
      </p:sp>
      <p:sp>
        <p:nvSpPr>
          <p:cNvPr id="4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731520" cy="0"/>
          </a:xfrm>
          <a:prstGeom prst="line">
            <a:avLst/>
          </a:prstGeom>
          <a:noFill/>
          <a:ln w="38100">
            <a:solidFill>
              <a:srgbClr val="00D4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2697480" cy="1828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Shape 7"/>
          <p:cNvSpPr/>
          <p:nvPr/>
        </p:nvSpPr>
        <p:spPr>
          <a:xfrm>
            <a:off x="3410712" y="1828800"/>
            <a:ext cx="2697480" cy="1828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Shape 10"/>
          <p:cNvSpPr/>
          <p:nvPr/>
        </p:nvSpPr>
        <p:spPr>
          <a:xfrm>
            <a:off x="6272784" y="1828800"/>
            <a:ext cx="2697480" cy="1828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Shape 13"/>
          <p:cNvSpPr/>
          <p:nvPr/>
        </p:nvSpPr>
        <p:spPr>
          <a:xfrm>
            <a:off x="9134856" y="1828800"/>
            <a:ext cx="2697480" cy="1828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4"/>
          <p:cNvSpPr/>
          <p:nvPr/>
        </p:nvSpPr>
        <p:spPr>
          <a:xfrm>
            <a:off x="9101904" y="2147196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 smtClean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Quantization</a:t>
            </a:r>
            <a:endParaRPr lang="en-US" sz="3200" dirty="0"/>
          </a:p>
        </p:txBody>
      </p:sp>
      <p:sp>
        <p:nvSpPr>
          <p:cNvPr id="15" name="Text 14"/>
          <p:cNvSpPr/>
          <p:nvPr/>
        </p:nvSpPr>
        <p:spPr>
          <a:xfrm>
            <a:off x="6223356" y="2158311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 smtClean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</a:t>
            </a:r>
            <a:endParaRPr lang="en-US" sz="3200" b="1" dirty="0" smtClean="0">
              <a:solidFill>
                <a:srgbClr val="00B05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3410712" y="2174786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 smtClean="0">
                <a:solidFill>
                  <a:srgbClr val="00D4A8"/>
                </a:solidFill>
                <a:latin typeface="Calibri" pitchFamily="34" charset="0"/>
                <a:cs typeface="Calibri" pitchFamily="34" charset="-120"/>
              </a:rPr>
              <a:t>Real Time Detection</a:t>
            </a:r>
            <a:endParaRPr lang="en-US" sz="3200" b="1" dirty="0" smtClean="0">
              <a:solidFill>
                <a:srgbClr val="00B050"/>
              </a:solidFill>
            </a:endParaRPr>
          </a:p>
        </p:txBody>
      </p:sp>
      <p:sp>
        <p:nvSpPr>
          <p:cNvPr id="21" name="Text 14"/>
          <p:cNvSpPr/>
          <p:nvPr/>
        </p:nvSpPr>
        <p:spPr>
          <a:xfrm>
            <a:off x="532164" y="21995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 smtClean="0">
                <a:solidFill>
                  <a:srgbClr val="00D4A8"/>
                </a:solidFill>
                <a:latin typeface="Calibri" pitchFamily="34" charset="0"/>
                <a:cs typeface="Calibri" pitchFamily="34" charset="-120"/>
              </a:rPr>
              <a:t>Single Stage</a:t>
            </a:r>
          </a:p>
          <a:p>
            <a:pPr algn="ctr"/>
            <a:r>
              <a:rPr lang="en-US" sz="3200" b="1" dirty="0" smtClean="0">
                <a:solidFill>
                  <a:srgbClr val="00D4A8"/>
                </a:solidFill>
                <a:latin typeface="Calibri" pitchFamily="34" charset="0"/>
                <a:cs typeface="Calibri" pitchFamily="34" charset="-120"/>
              </a:rPr>
              <a:t>Detector</a:t>
            </a:r>
            <a:endParaRPr lang="en-US" sz="3200" b="1" dirty="0" smtClean="0">
              <a:solidFill>
                <a:srgbClr val="00B050"/>
              </a:solidFill>
            </a:endParaRPr>
          </a:p>
        </p:txBody>
      </p:sp>
      <p:sp>
        <p:nvSpPr>
          <p:cNvPr id="22" name="Shape 4"/>
          <p:cNvSpPr/>
          <p:nvPr/>
        </p:nvSpPr>
        <p:spPr>
          <a:xfrm>
            <a:off x="532164" y="4191404"/>
            <a:ext cx="2697480" cy="1828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532164" y="45720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 smtClean="0">
                <a:solidFill>
                  <a:srgbClr val="00D4A8"/>
                </a:solidFill>
                <a:latin typeface="Calibri" pitchFamily="34" charset="0"/>
                <a:cs typeface="Calibri" pitchFamily="34" charset="-120"/>
              </a:rPr>
              <a:t>Offline</a:t>
            </a:r>
            <a:endParaRPr lang="en-US" sz="3200" b="1" dirty="0" smtClean="0">
              <a:solidFill>
                <a:srgbClr val="00B050"/>
              </a:solidFill>
            </a:endParaRPr>
          </a:p>
        </p:txBody>
      </p:sp>
      <p:sp>
        <p:nvSpPr>
          <p:cNvPr id="24" name="Text 6"/>
          <p:cNvSpPr/>
          <p:nvPr/>
        </p:nvSpPr>
        <p:spPr>
          <a:xfrm>
            <a:off x="677562" y="5410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 smtClean="0">
                <a:solidFill>
                  <a:srgbClr val="7CC4B0"/>
                </a:solidFill>
                <a:latin typeface="Calibri" pitchFamily="34" charset="0"/>
                <a:cs typeface="Calibri" pitchFamily="34" charset="-120"/>
              </a:rPr>
              <a:t>Run offline on Smartphone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677562" y="315303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throughput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3578928" y="3136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 smtClean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80-120 ms per frame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6464724" y="312832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 smtClean="0">
                <a:solidFill>
                  <a:srgbClr val="7CC4B0"/>
                </a:solidFill>
                <a:latin typeface="Calibri" pitchFamily="34" charset="0"/>
                <a:cs typeface="Calibri" pitchFamily="34" charset="-120"/>
              </a:rPr>
              <a:t>Smartphone support format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9270451" y="31365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 smtClean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 model  size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Application - Performance </a:t>
            </a: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731520" cy="0"/>
          </a:xfrm>
          <a:prstGeom prst="line">
            <a:avLst/>
          </a:prstGeom>
          <a:noFill/>
          <a:ln w="38100">
            <a:solidFill>
              <a:srgbClr val="00D4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2697480" cy="1828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fps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 smtClean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throughput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1828800"/>
            <a:ext cx="2697480" cy="1828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19659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ms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547872" y="3063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object-to-speech latency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72784" y="1828800"/>
            <a:ext cx="2697480" cy="1828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19659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MB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409944" y="3063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(INT8)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34856" y="1828800"/>
            <a:ext cx="2697480" cy="1828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34856" y="19659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MB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9272016" y="30632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APK size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1428"/>
          </a:solidFill>
          <a:ln w="12700">
            <a:solidFill>
              <a:srgbClr val="08142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6473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NAVISENCE  ·  EDBP-2025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820095" y="6473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  <p:sp>
        <p:nvSpPr>
          <p:cNvPr id="21" name="Shape 4"/>
          <p:cNvSpPr/>
          <p:nvPr/>
        </p:nvSpPr>
        <p:spPr>
          <a:xfrm>
            <a:off x="548640" y="3931920"/>
            <a:ext cx="2697480" cy="1828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Rectangle 21"/>
          <p:cNvSpPr/>
          <p:nvPr/>
        </p:nvSpPr>
        <p:spPr>
          <a:xfrm>
            <a:off x="1069827" y="4061460"/>
            <a:ext cx="157431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en-US" sz="6600" b="1" dirty="0" smtClean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200" dirty="0"/>
          </a:p>
        </p:txBody>
      </p:sp>
      <p:sp>
        <p:nvSpPr>
          <p:cNvPr id="23" name="Text 6"/>
          <p:cNvSpPr/>
          <p:nvPr/>
        </p:nvSpPr>
        <p:spPr>
          <a:xfrm>
            <a:off x="685800" y="516945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 smtClean="0">
                <a:solidFill>
                  <a:srgbClr val="7CC4B0"/>
                </a:solidFill>
                <a:latin typeface="Calibri" pitchFamily="34" charset="0"/>
                <a:cs typeface="Calibri" pitchFamily="34" charset="-120"/>
              </a:rPr>
              <a:t>App Latency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Assistive Solutions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731520" cy="0"/>
          </a:xfrm>
          <a:prstGeom prst="line">
            <a:avLst/>
          </a:prstGeom>
          <a:noFill/>
          <a:ln w="38100">
            <a:solidFill>
              <a:srgbClr val="00D4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15288" y="1828800"/>
            <a:ext cx="237744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15288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92728" y="1828800"/>
            <a:ext cx="173736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92728" y="1828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30088" y="1828800"/>
            <a:ext cx="173736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30088" y="18288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67448" y="1828800"/>
            <a:ext cx="146304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67448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30488" y="1828800"/>
            <a:ext cx="164592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30488" y="1828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15288" y="2606040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15288" y="2606040"/>
            <a:ext cx="2377440" cy="530352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Cane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92728" y="2606040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92728" y="26060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30088" y="2606040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30088" y="260604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67448" y="2606040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7448" y="260604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930488" y="2606040"/>
            <a:ext cx="1645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30488" y="260604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615288" y="3136392"/>
            <a:ext cx="237744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15288" y="3136392"/>
            <a:ext cx="2377440" cy="530352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Dog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992728" y="3136392"/>
            <a:ext cx="173736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92728" y="31363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30088" y="3136392"/>
            <a:ext cx="173736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30088" y="31363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67448" y="3136392"/>
            <a:ext cx="146304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67448" y="313639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930488" y="3136392"/>
            <a:ext cx="164592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30488" y="313639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615288" y="3666744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15288" y="3666744"/>
            <a:ext cx="2377440" cy="530352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SmartCane / WeWALK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992728" y="3666744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92728" y="366674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730088" y="3666744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30088" y="366674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467448" y="3666744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67448" y="366674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930488" y="3666744"/>
            <a:ext cx="1645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30488" y="366674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615288" y="4197096"/>
            <a:ext cx="237744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15288" y="4197096"/>
            <a:ext cx="2377440" cy="530352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OrCam MyEye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992728" y="4197096"/>
            <a:ext cx="173736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92728" y="41970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730088" y="4197096"/>
            <a:ext cx="173736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30088" y="41970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67448" y="4197096"/>
            <a:ext cx="146304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67448" y="419709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930488" y="4197096"/>
            <a:ext cx="164592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30488" y="419709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615288" y="4727448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15288" y="4727448"/>
            <a:ext cx="2377440" cy="530352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Seeing AI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992728" y="4727448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92728" y="47274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730088" y="4727448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30088" y="47274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467448" y="4727448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67448" y="472744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930488" y="4727448"/>
            <a:ext cx="1645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930488" y="472744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615288" y="5257800"/>
            <a:ext cx="2377440" cy="530352"/>
          </a:xfrm>
          <a:prstGeom prst="rect">
            <a:avLst/>
          </a:prstGeom>
          <a:solidFill>
            <a:srgbClr val="00D4A8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615288" y="5257800"/>
            <a:ext cx="2377440" cy="530352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300" b="1" dirty="0" smtClean="0">
                <a:solidFill>
                  <a:srgbClr val="08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NAVISENSE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3992728" y="5257800"/>
            <a:ext cx="1737360" cy="530352"/>
          </a:xfrm>
          <a:prstGeom prst="rect">
            <a:avLst/>
          </a:prstGeom>
          <a:solidFill>
            <a:srgbClr val="00D4A8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92728" y="52578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5730088" y="5257800"/>
            <a:ext cx="1737360" cy="530352"/>
          </a:xfrm>
          <a:prstGeom prst="rect">
            <a:avLst/>
          </a:prstGeom>
          <a:solidFill>
            <a:srgbClr val="00D4A8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30088" y="52578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467448" y="5257800"/>
            <a:ext cx="1463040" cy="530352"/>
          </a:xfrm>
          <a:prstGeom prst="rect">
            <a:avLst/>
          </a:prstGeom>
          <a:solidFill>
            <a:srgbClr val="00D4A8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67448" y="525780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930488" y="5257800"/>
            <a:ext cx="1645920" cy="530352"/>
          </a:xfrm>
          <a:prstGeom prst="rect">
            <a:avLst/>
          </a:prstGeom>
          <a:solidFill>
            <a:srgbClr val="00D4A8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930488" y="525780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14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548640" y="60807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NAVISENCE is the only solution that combines object identification, spatial awareness, offline operation, and affordability in one package.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1428"/>
          </a:solidFill>
          <a:ln w="12700">
            <a:solidFill>
              <a:srgbClr val="08142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6473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NAVISENCE  ·  EDBP-2025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0820095" y="6473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 smtClean="0">
                <a:solidFill>
                  <a:srgbClr val="00D4A8"/>
                </a:solidFill>
                <a:latin typeface="Calibri" pitchFamily="34" charset="0"/>
                <a:cs typeface="Calibri" pitchFamily="34" charset="-120"/>
              </a:rPr>
              <a:t>SHORT UI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731520" cy="0"/>
          </a:xfrm>
          <a:prstGeom prst="line">
            <a:avLst/>
          </a:prstGeom>
          <a:noFill/>
          <a:ln w="38100">
            <a:solidFill>
              <a:srgbClr val="00D4A8"/>
            </a:solidFill>
            <a:prstDash val="solid"/>
          </a:ln>
        </p:spPr>
      </p:sp>
      <p:pic>
        <p:nvPicPr>
          <p:cNvPr id="6" name="Picture 5" descr="figm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017" y="1508760"/>
            <a:ext cx="2165281" cy="47048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SOLVED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731520" cy="0"/>
          </a:xfrm>
          <a:prstGeom prst="line">
            <a:avLst/>
          </a:prstGeom>
          <a:noFill/>
          <a:ln w="38100">
            <a:solidFill>
              <a:srgbClr val="00D4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532120" cy="2057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91440" cy="205740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Detections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</a:t>
            </a: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announced random objects at startup before camera stabilized.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1.2-second warmup gate + 2-frame stability filter.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532120" cy="2057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828800"/>
            <a:ext cx="91440" cy="205740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6596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 </a:t>
            </a:r>
            <a:r>
              <a:rPr lang="en-US" sz="1700" b="1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(Person→ </a:t>
            </a: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46888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</a:t>
            </a: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Out-of-vocabulary objects forced into nearest class.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315468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confidence thresholds + margin filter rejecting low top-1/top-2 </a:t>
            </a:r>
            <a:r>
              <a:rPr lang="en-US" sz="1200" dirty="0" smtClean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gaps. Train model on real data.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5532120" cy="2057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9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160520"/>
            <a:ext cx="91440" cy="2057400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976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Broke on Rotation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2960" y="48006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 </a:t>
            </a:r>
            <a:r>
              <a:rPr lang="en-US" sz="12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tilted physically — model saw upright frame of sideways world.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54864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 </a:t>
            </a: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sensors_plus accelerometer + dynamic rotation compensation.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1428"/>
          </a:solidFill>
          <a:ln w="12700">
            <a:solidFill>
              <a:srgbClr val="0814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73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NAVISENCE  ·  EDBP-2025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820095" y="6473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731520" cy="0"/>
          </a:xfrm>
          <a:prstGeom prst="line">
            <a:avLst/>
          </a:prstGeom>
          <a:noFill/>
          <a:ln w="38100">
            <a:solidFill>
              <a:srgbClr val="00D4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48640" cy="0"/>
          </a:xfrm>
          <a:prstGeom prst="line">
            <a:avLst/>
          </a:prstGeom>
          <a:noFill/>
          <a:ln w="25400">
            <a:solidFill>
              <a:srgbClr val="C04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7-Class Vocabulary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7249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objects (laptop, bottle) get forced into the nearest known class.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Distance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5021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Bounding-box size with per-class thresholds — not true metric distance.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Sensitive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2793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degrades in low light or with strong backlight.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Output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0566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flutter_tts supports more languages — not yet configured.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57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2240280"/>
            <a:ext cx="548640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7512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Class Set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27249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with 15-20 classes including common household objects.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7512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Distance Estimation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35021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depth model (MiDaS variant) for metric distance.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75120" y="4023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Delegate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42793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NNAPI / GPU inference to halve latency on supported devices.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75120" y="4800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Speech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75120" y="50566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Urdu, Hindi, Arabic — configurable in app settings.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1428"/>
          </a:solidFill>
          <a:ln w="12700">
            <a:solidFill>
              <a:srgbClr val="0814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473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NAVISENCE  ·  EDBP-2025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820095" y="6473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15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real-time computer vision app that runs entirely on a phone, with no internet, no cloud, and no compromise on user privacy.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1371600" cy="0"/>
          </a:xfrm>
          <a:prstGeom prst="line">
            <a:avLst/>
          </a:prstGeom>
          <a:noFill/>
          <a:ln w="38100">
            <a:solidFill>
              <a:srgbClr val="00D4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fps real-time detection. ~600 ms latency from object to speech. Stable across rotation, lighting, and motion within documented limits.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34840" y="3657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3484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Solves a Real Problem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34840" y="47091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affordable, private — the three constraints that disqualify most existing solutions for users in low-connectivity regions.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21040" y="3657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32104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Honest About Limits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21040" y="47091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failure modes, scope boundaries, and future work. No claims it cannot defend.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1428"/>
          </a:solidFill>
          <a:ln w="12700">
            <a:solidFill>
              <a:srgbClr val="0814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473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NAVISENCE  ·  EDBP-2025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820095" y="6473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115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5029200" y="3246120"/>
            <a:ext cx="2103120" cy="0"/>
          </a:xfrm>
          <a:prstGeom prst="line">
            <a:avLst/>
          </a:prstGeom>
          <a:noFill/>
          <a:ln w="50800">
            <a:solidFill>
              <a:srgbClr val="00D4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74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device  ·  real-time detection  ·  fully offline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840480" y="4572000"/>
            <a:ext cx="365760" cy="365760"/>
          </a:xfrm>
          <a:prstGeom prst="ellipse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45902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object detection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0480" y="5029200"/>
            <a:ext cx="365760" cy="365760"/>
          </a:xfrm>
          <a:prstGeom prst="ellipse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5047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changes (left / center / right)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0480" y="5486400"/>
            <a:ext cx="365760" cy="365760"/>
          </a:xfrm>
          <a:prstGeom prst="ellipse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5504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changes (near as user approaches)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0480" y="5943600"/>
            <a:ext cx="365760" cy="365760"/>
          </a:xfrm>
          <a:prstGeom prst="ellipse">
            <a:avLst/>
          </a:prstGeom>
          <a:solidFill>
            <a:srgbClr val="00D4A8"/>
          </a:solidFill>
          <a:ln w="12700">
            <a:solidFill>
              <a:srgbClr val="00D4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5943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59618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 scene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81428"/>
          </a:solidFill>
          <a:ln w="12700">
            <a:solidFill>
              <a:srgbClr val="0814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73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NAVISENCE  ·  EDBP-2025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820095" y="6473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15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5029200" y="3840480"/>
            <a:ext cx="2103120" cy="0"/>
          </a:xfrm>
          <a:prstGeom prst="line">
            <a:avLst/>
          </a:prstGeom>
          <a:noFill/>
          <a:ln w="50800">
            <a:solidFill>
              <a:srgbClr val="00D4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605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00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·  Discussion  ·  Live Demo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NAVISENCE Team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486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Raza Ansari  ·  Muhammad Abdullah Zammad  ·  Muhammad Hassan Javed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C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Sargodha  ·  Department of Computer Science  ·  EDBP-2025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986</Words>
  <Application>Microsoft Office PowerPoint</Application>
  <PresentationFormat>Custom</PresentationFormat>
  <Paragraphs>271</Paragraphs>
  <Slides>15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NAVISENCE — Real-Time Object Detection App</dc:title>
  <dc:subject>PptxGenJS Presentation</dc:subject>
  <dc:creator>NAVISENCE Team</dc:creator>
  <cp:lastModifiedBy>Rameez</cp:lastModifiedBy>
  <cp:revision>22</cp:revision>
  <dcterms:created xsi:type="dcterms:W3CDTF">2026-05-19T16:33:36Z</dcterms:created>
  <dcterms:modified xsi:type="dcterms:W3CDTF">2026-05-21T05:17:27Z</dcterms:modified>
</cp:coreProperties>
</file>